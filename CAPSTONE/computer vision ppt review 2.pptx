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3" r:id="rId2"/>
    <p:sldId id="257" r:id="rId3"/>
    <p:sldId id="258" r:id="rId4"/>
    <p:sldId id="261" r:id="rId5"/>
    <p:sldId id="260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4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8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Times New Roman"/>
              </a:defRPr>
            </a:pPr>
            <a:r>
              <a:rPr lang="en-IN" sz="1400" b="0" i="0" u="none" strike="noStrike">
                <a:solidFill>
                  <a:srgbClr val="000000"/>
                </a:solidFill>
                <a:latin typeface="Times New Roman"/>
              </a:rPr>
              <a:t>Comparative Accuracy Across Approaches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Pixel Accuracy (%)</c:v>
                </c:pt>
              </c:strCache>
            </c:strRef>
          </c:tx>
          <c:spPr>
            <a:solidFill>
              <a:srgbClr val="C97A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32527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Thresholding</c:v>
                </c:pt>
                <c:pt idx="1">
                  <c:v>Classical
K-Means</c:v>
                </c:pt>
                <c:pt idx="2">
                  <c:v>CNN
Segmentation</c:v>
                </c:pt>
                <c:pt idx="3">
                  <c:v>U-Net
Only</c:v>
                </c:pt>
                <c:pt idx="4">
                  <c:v>MetalVision
(Proposed)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</c:v>
                </c:pt>
                <c:pt idx="1">
                  <c:v>74</c:v>
                </c:pt>
                <c:pt idx="2">
                  <c:v>82</c:v>
                </c:pt>
                <c:pt idx="3">
                  <c:v>88</c:v>
                </c:pt>
                <c:pt idx="4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F7-4F1C-ACBF-51C2ED4A56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2527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B9C2C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2527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2429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46066" y="1564493"/>
            <a:ext cx="104998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ITA0502-COMPUTER VISION</a:t>
            </a:r>
          </a:p>
        </p:txBody>
      </p:sp>
      <p:sp>
        <p:nvSpPr>
          <p:cNvPr id="7" name="Text 5"/>
          <p:cNvSpPr/>
          <p:nvPr/>
        </p:nvSpPr>
        <p:spPr>
          <a:xfrm>
            <a:off x="640080" y="2212163"/>
            <a:ext cx="1109963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lang="en-US" sz="4000" b="1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U-Net and K-Means Clustering-Based </a:t>
            </a:r>
            <a:r>
              <a:rPr lang="en-US" sz="4000" b="1" dirty="0" err="1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MetalVision</a:t>
            </a:r>
            <a:r>
              <a:rPr lang="en-US" sz="4000" b="1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Intelligent Metal Surface Color Segmentation Framework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14400" y="50292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Program Director : </a:t>
            </a:r>
            <a:r>
              <a:rPr lang="en-US" sz="18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Sasi Rekha, Prof / CSE
</a:t>
            </a:r>
            <a:r>
              <a:rPr 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Faculty : </a:t>
            </a:r>
            <a:r>
              <a:rPr lang="en-US" sz="18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Mrs. R C Jeni Gracia, AP / CSE</a:t>
            </a: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292EA5-EC63-E61B-C84E-E3F790980AE7}"/>
              </a:ext>
            </a:extLst>
          </p:cNvPr>
          <p:cNvSpPr txBox="1"/>
          <p:nvPr/>
        </p:nvSpPr>
        <p:spPr>
          <a:xfrm>
            <a:off x="6316825" y="4648260"/>
            <a:ext cx="51869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M.Maruthi-192425257</a:t>
            </a:r>
          </a:p>
          <a:p>
            <a:pPr algn="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Anvesh Chandra Reddy-192472303</a:t>
            </a:r>
          </a:p>
          <a:p>
            <a:pPr algn="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Krishna Tejesh-192411200</a:t>
            </a:r>
          </a:p>
          <a:p>
            <a:pPr algn="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A.Archishman-192425341</a:t>
            </a:r>
          </a:p>
          <a:p>
            <a:pPr algn="r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K.Subrahmanya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Venkat sai-192472220</a:t>
            </a: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E6A0EEBF-FC13-244B-5AC5-597F855D7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6066" y="192920"/>
            <a:ext cx="10657677" cy="108537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Agenda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3A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6002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3A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25856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944368"/>
            <a:ext cx="457200" cy="457200"/>
          </a:xfrm>
          <a:prstGeom prst="ellipse">
            <a:avLst/>
          </a:prstGeom>
          <a:solidFill>
            <a:srgbClr val="3A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91693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602736"/>
            <a:ext cx="457200" cy="457200"/>
          </a:xfrm>
          <a:prstGeom prst="ellipse">
            <a:avLst/>
          </a:prstGeom>
          <a:solidFill>
            <a:srgbClr val="3A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575304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261104"/>
            <a:ext cx="457200" cy="457200"/>
          </a:xfrm>
          <a:prstGeom prst="ellipse">
            <a:avLst/>
          </a:prstGeom>
          <a:solidFill>
            <a:srgbClr val="3A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423367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 - Overall Design of Project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919472"/>
            <a:ext cx="457200" cy="457200"/>
          </a:xfrm>
          <a:prstGeom prst="ellipse">
            <a:avLst/>
          </a:prstGeom>
          <a:solidFill>
            <a:srgbClr val="3A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" y="4919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4892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Modules - Techniques, Approaches &amp; Methodologies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09360" y="1627632"/>
            <a:ext cx="457200" cy="457200"/>
          </a:xfrm>
          <a:prstGeom prst="ellipse">
            <a:avLst/>
          </a:prstGeom>
          <a:solidFill>
            <a:srgbClr val="3A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309360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03720" y="16002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and Discussion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09360" y="2286000"/>
            <a:ext cx="457200" cy="457200"/>
          </a:xfrm>
          <a:prstGeom prst="ellipse">
            <a:avLst/>
          </a:prstGeom>
          <a:solidFill>
            <a:srgbClr val="3A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30936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03720" y="225856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Screenshots - Implementation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09360" y="2944368"/>
            <a:ext cx="457200" cy="457200"/>
          </a:xfrm>
          <a:prstGeom prst="ellipse">
            <a:avLst/>
          </a:prstGeom>
          <a:solidFill>
            <a:srgbClr val="3A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30936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03720" y="291693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309360" y="3602736"/>
            <a:ext cx="457200" cy="457200"/>
          </a:xfrm>
          <a:prstGeom prst="ellipse">
            <a:avLst/>
          </a:prstGeom>
          <a:solidFill>
            <a:srgbClr val="3A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09360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03720" y="3575304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309360" y="4261104"/>
            <a:ext cx="457200" cy="457200"/>
          </a:xfrm>
          <a:prstGeom prst="ellipse">
            <a:avLst/>
          </a:prstGeom>
          <a:solidFill>
            <a:srgbClr val="3A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30936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903720" y="423367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058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Metal surfaces vary widely in color, texture, and finish across manufacturing batches.</a:t>
            </a:r>
            <a:endParaRPr lang="en-US" sz="2400" dirty="0"/>
          </a:p>
          <a:p>
            <a:pPr marL="342900" indent="-342900" algn="just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inspection of surface color/quality is slow, subjective, and error-prone.</a:t>
            </a:r>
            <a:endParaRPr lang="en-US" sz="2400" dirty="0"/>
          </a:p>
          <a:p>
            <a:pPr marL="342900" indent="-342900" algn="just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MetalVision combines U-Net (deep learning segmentation) with K-Means clustering (unsupervised color grouping) to automate this process.</a:t>
            </a:r>
            <a:endParaRPr lang="en-US" sz="2400" dirty="0"/>
          </a:p>
          <a:p>
            <a:pPr marL="342900" indent="-342900" algn="just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Goal: precise, consistent, and scalable color-based segmentation of metal surfaces for quality control.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68680" y="2029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600200" y="18288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Design a U-Net based deep learning model for pixel-level segmentation of metal surfaces.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8680" y="3081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00200" y="28803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Apply K-Means clustering to group segmented regions by dominant color characteristics.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68680" y="4133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600200" y="39319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Build an integrated pipeline that combines segmentation accuracy with color-based grouping.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600200" y="4983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Evaluate the framework on real metal surface images for accuracy, consistency, and speed.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932688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metal surface inspection methods struggle to consistently and accurately segment regions by color under varying lighting, surface finish, and material composition. </a:t>
            </a: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is a need for an intelligent framework that combines deep learning-based segmentation with unsupervised color clustering to deliver accurate, consistent, and automated metal surface color segmentation for industrial quality inspection.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487540"/>
              </p:ext>
            </p:extLst>
          </p:nvPr>
        </p:nvGraphicFramePr>
        <p:xfrm>
          <a:off x="458724" y="1348740"/>
          <a:ext cx="11274552" cy="5017008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6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Author(s) &amp; Year</a:t>
                      </a:r>
                      <a:endParaRPr lang="en-US" sz="1600" dirty="0">
                        <a:solidFill>
                          <a:schemeClr val="bg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Existing Technique</a:t>
                      </a:r>
                      <a:endParaRPr lang="en-US" sz="1600" dirty="0">
                        <a:solidFill>
                          <a:schemeClr val="bg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Advantages</a:t>
                      </a:r>
                      <a:endParaRPr lang="en-US" sz="1600" dirty="0">
                        <a:solidFill>
                          <a:schemeClr val="bg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Limitations</a:t>
                      </a:r>
                      <a:endParaRPr lang="en-US" sz="1600" dirty="0">
                        <a:solidFill>
                          <a:schemeClr val="bg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Ronneberger et al. (2015)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Original U-Net: encoder-decoder with skip connections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Precise pixel-level masks; works with limited training data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Built for medical images; needs domain adaptation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Lucchese &amp; Mitra (1999)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K-Means clustering in the chromaticity color plane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Simple, fast, fully unsupervised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Sensitive to initial cluster centers &amp; lighting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Pappas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Spatially-constrained K-Means generalization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Reduces noisy clusters via spatial continuity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Added compute cost; k still chosen manually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Xiao et al.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Weighted attention + U-Net residual (steel)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Eases gradient vanishing; better features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Weak on small, complex defects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SLMA U-Net (2025)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Spatial-channel attention U-Net for steel defects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Higher accuracy on steel/metal surfaces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More complex; costlier inference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Low-pass U-Net (2022)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Low-pass filter added before encoder downsampling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Captures high-frequency defect edges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Extra frequency-domain complexity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FDTransUnet (2024)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Transformer + U-Net for aluminum defects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 accuracy even with few samples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 training &amp; compute cost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RGB-Histogram K-Means (2020)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Auto-selects cluster count from RGB histograms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manual k needed; adaptive per image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Ignores learned spatial/semantic context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274552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94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4663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6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45851F8-28A7-26BE-5C7F-F1BECFFA6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344" y="625151"/>
            <a:ext cx="9787812" cy="63914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07492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B9C2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199339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7A3D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1. Image Acquisition &amp; Preprocessing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2400" dirty="0">
                <a:solidFill>
                  <a:srgbClr val="232527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Resize, denoise, and normalize the input metal surface image.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89320" y="1828800"/>
            <a:ext cx="507492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B9C2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0" y="199339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C97A3D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2. U-Net Segmentation Module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7920" y="251460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2400" dirty="0">
                <a:solidFill>
                  <a:srgbClr val="232527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Encoder-decoder CNN with skip connections produces a pixel-level mask.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507492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B9C2C9"/>
            </a:solidFill>
            <a:prstDash val="solid"/>
          </a:ln>
        </p:spPr>
        <p:txBody>
          <a:bodyPr/>
          <a:lstStyle/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8680" y="418795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C97A3D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3. K-Means Clustering Module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8680" y="470916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2400" dirty="0">
                <a:solidFill>
                  <a:srgbClr val="232527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Groups segmented pixels into color clusters by similarity.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89320" y="4023360"/>
            <a:ext cx="507492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B9C2C9"/>
            </a:solidFill>
            <a:prstDash val="solid"/>
          </a:ln>
        </p:spPr>
        <p:txBody>
          <a:bodyPr/>
          <a:lstStyle/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17920" y="418795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7A3D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4. Visualization &amp; Evaluation Module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17920" y="470916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2400" dirty="0">
                <a:solidFill>
                  <a:srgbClr val="232527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Overlays results and computes IoU, Dice, and accuracy metrics.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 : Preprocessing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97A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Technique / Approach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66928" y="2263140"/>
            <a:ext cx="10573823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 metal surface images are captured or imported from a dataset, then standardized before entering the network.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Resizing gives every image a fixed resolution so the network's input layer stays consistent.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Normalization rescales pixel intensities into a small numeric range so training converges faster.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denoising filter (Gaussian or median) suppresses sensor noise and glare from the metal surface, and optional histogram equalization improves contrast on dull or unevenly lit samples.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788855" y="577900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26480" y="1508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 : U-Net Segmentation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97A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Technique / Approach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0666828" cy="38844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U-Net is a convolutional encoder-decoder network.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encoder repeatedly applies convolution, ReLU activation, and max-pooling to shrink the image spatially while extracting increasingly abstract features.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bottleneck holds the deepest, most compressed feature representation.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decoder then reverses this with up-convolutions, and at each stage concatenates the matching encoder feature map through a skip connection, so fine spatial detail lost during downsampling is recovered.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final 1×1 convolution with a sigmoid/softmax activation outputs a per-pixel segmentation mask.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 : K-Means Clustering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7A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Technique / Approach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64698" y="2126447"/>
            <a:ext cx="10192043" cy="37611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Once regions are segmented, each pixel's color (RGB or Lab values) becomes a feature vector.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K-Means partitions these vectors into k groups so that pixels within a group share similar color, while pixels in different groups are dissimilar.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number of clusters k can be fixed from domain knowledge or chosen with the elbow / silhouette method.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algorithm alternates between assigning pixels to the nearest centroid and recomputing centroids, until the assignments stop changing.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4 : Visualization &amp; Evaluation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97A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Technique / Approach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60890" y="2191761"/>
            <a:ext cx="9399659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predicted segmentation mask and K-Means color clusters are overlaid on the original metal surface image so results can be inspected visually.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parallel, quantitative metrics compare the prediction against ground-truth labels (where available):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Intersection-over-Union and Dice coefficient measure mask overlap quality, while pixel accuracy measures the overall fraction of correctly classified pixels.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scores feed directly into the Results &amp; Discussion analysis.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and Discussion</a:t>
            </a:r>
            <a:endParaRPr lang="en-US" sz="36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4163982691"/>
              </p:ext>
            </p:extLst>
          </p:nvPr>
        </p:nvGraphicFramePr>
        <p:xfrm>
          <a:off x="548640" y="1508760"/>
          <a:ext cx="4577275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440680"/>
            <a:ext cx="45772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Illustrative values based on reported trends in the literature; to be replaced with measured results.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156395" y="1535137"/>
            <a:ext cx="6486965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Combining U-Net with K-Means is expected to outperform either technique alone.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U-Net contributes precise, learned region boundaries.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K-Means adds consistent, interpretable color grouping on top of those regions.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Traditional thresholding and plain K-Means struggle most under variable lighting.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Deeper attention-based U-Net variants(Module 2) should further close the gap.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274552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600" b="1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Application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120640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B9C2C9"/>
            </a:solidFill>
            <a:prstDash val="solid"/>
          </a:ln>
        </p:spPr>
        <p:txBody>
          <a:bodyPr/>
          <a:lstStyle/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172821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C97A3D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Steel Manufacturing QC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213055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Automated color/finish inspection on production lines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5120640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B9C2C9"/>
            </a:solidFill>
            <a:prstDash val="solid"/>
          </a:ln>
        </p:spPr>
        <p:txBody>
          <a:bodyPr/>
          <a:lstStyle/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263640" y="172821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C97A3D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Automotive Body Panels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63640" y="213055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Detecting paint or coating inconsistencies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5120640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B9C2C9"/>
            </a:solidFill>
            <a:prstDash val="solid"/>
          </a:ln>
        </p:spPr>
        <p:txBody>
          <a:bodyPr/>
          <a:lstStyle/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319125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C97A3D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Aerospace Components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8680" y="359359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Surface uniformity checks on critical metal parts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35040" y="3063240"/>
            <a:ext cx="5120640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B9C2C9"/>
            </a:solidFill>
            <a:prstDash val="solid"/>
          </a:ln>
        </p:spPr>
        <p:txBody>
          <a:bodyPr/>
          <a:lstStyle/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63640" y="319125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C97A3D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Coating &amp; Plating Verification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63640" y="359359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Confirming uniform coverage of protective coatings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4526280"/>
            <a:ext cx="5120640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B9C2C9"/>
            </a:solidFill>
            <a:prstDash val="solid"/>
          </a:ln>
        </p:spPr>
        <p:txBody>
          <a:bodyPr/>
          <a:lstStyle/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8680" y="465429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C97A3D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Scrap Metal Sorting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68680" y="505663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Grading recycled metal by surface color/condition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35040" y="4526280"/>
            <a:ext cx="5120640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B9C2C9"/>
            </a:solidFill>
            <a:prstDash val="solid"/>
          </a:ln>
        </p:spPr>
        <p:txBody>
          <a:bodyPr/>
          <a:lstStyle/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63640" y="465429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C97A3D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Corrosion &amp; Rust Monitoring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63640" y="505663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Tracking oxidation on infrastructure over time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515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Metal surface color inspection remains largely manual, slow, and inconsistent across industries.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MetalVision</a:t>
            </a: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addresses this by pairing U-Net's precise pixel-level segmentation with K-Means' unsupervised color grouping.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The combined pipeline is designed to be more accurate and consistent than either technique used alone.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Expected outcomes include faster inspection cycles, reduced human error, and scalable deployment across production lines.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Future work: expand to attention-based U-Net variants, adaptive cluster selection, and real-time deployment on edge devices.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[1] O. Ronneberger, P. Fischer, and T. Brox, “U-Net: Convolutional Networks for Biomedical Image Segmentation,” MICCAI, 2015.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[2] L. Lucchese and S. K. Mitra, “Unsupervised segmentation of color images based on k-means clustering in the chromaticity plane,” IEEE CBAIVL, 1999.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[3] T. N. Pappas, “An adaptive clustering algorithm for image segmentation,” IEEE Transactions on Signal Processing.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[4] Xiao et al., “Steel surface defect segmentation using a weighted-attention U-Net with residual connections.”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[5] “SLMA-U-Net: Spatial-Channel Gray-Level Mixed Attention U-Net for steel surface defect segmentation,” 2025.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1274</Words>
  <Application>Microsoft Office PowerPoint</Application>
  <PresentationFormat>Widescreen</PresentationFormat>
  <Paragraphs>166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maruthi maruthi</cp:lastModifiedBy>
  <cp:revision>2</cp:revision>
  <dcterms:created xsi:type="dcterms:W3CDTF">2026-08-18T02:50:02Z</dcterms:created>
  <dcterms:modified xsi:type="dcterms:W3CDTF">2026-08-18T03:36:54Z</dcterms:modified>
</cp:coreProperties>
</file>