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931920"/>
            <a:ext cx="3291840" cy="3291840"/>
          </a:xfrm>
          <a:prstGeom prst="ellipse">
            <a:avLst/>
          </a:prstGeom>
          <a:solidFill>
            <a:srgbClr val="B9C2C9"/>
          </a:solidFill>
          <a:ln w="25400">
            <a:solidFill>
              <a:srgbClr val="C9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98280" y="4617720"/>
            <a:ext cx="1920240" cy="1920240"/>
          </a:xfrm>
          <a:prstGeom prst="ellipse">
            <a:avLst/>
          </a:prstGeom>
          <a:ln w="19050">
            <a:solidFill>
              <a:srgbClr val="3A3F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5166360"/>
            <a:ext cx="822960" cy="822960"/>
          </a:xfrm>
          <a:prstGeom prst="ellipse">
            <a:avLst/>
          </a:prstGeom>
          <a:solidFill>
            <a:srgbClr val="C97A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7A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25/7/2026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 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U-Net and K-Means Clustering-Based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MetalVision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7A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Intelligent Metal Surface Color Segmentation Framework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4846320"/>
            <a:ext cx="694944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B9C2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02920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Program Director :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Sasi Rekha, Prof / CSE
</a:t>
            </a:r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Faculty :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Mrs. R C Jeni Gracia, AP / CSE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77272" y="365760"/>
            <a:ext cx="1645920" cy="1645920"/>
          </a:xfrm>
          <a:prstGeom prst="ellipse">
            <a:avLst/>
          </a:prstGeom>
          <a:solidFill>
            <a:srgbClr val="B9C2C9"/>
          </a:solidFill>
          <a:ln w="19050">
            <a:solidFill>
              <a:srgbClr val="C97A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97312" y="685800"/>
            <a:ext cx="1005840" cy="1005840"/>
          </a:xfrm>
          <a:prstGeom prst="ellipse">
            <a:avLst/>
          </a:prstGeom>
          <a:ln w="12700">
            <a:solidFill>
              <a:srgbClr val="3A3F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9064" y="987552"/>
            <a:ext cx="402336" cy="402336"/>
          </a:xfrm>
          <a:prstGeom prst="ellipse">
            <a:avLst/>
          </a:prstGeom>
          <a:solidFill>
            <a:srgbClr val="C97A3D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60020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2359152"/>
            <a:ext cx="502920" cy="5029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59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31343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" y="3072384"/>
            <a:ext cx="502920" cy="5029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723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026664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40080" y="3785616"/>
            <a:ext cx="502920" cy="5029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85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739896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40080" y="4498848"/>
            <a:ext cx="502920" cy="5029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498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445312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 - Overall Design of Project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40080" y="5212080"/>
            <a:ext cx="502920" cy="502920"/>
          </a:xfrm>
          <a:prstGeom prst="ellipse">
            <a:avLst/>
          </a:prstGeom>
          <a:solidFill>
            <a:srgbClr val="3A3F4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212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51663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Modules Introduction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MetalVision  |  Review 1  |  25/07/2026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77272" y="365760"/>
            <a:ext cx="1645920" cy="1645920"/>
          </a:xfrm>
          <a:prstGeom prst="ellipse">
            <a:avLst/>
          </a:prstGeom>
          <a:solidFill>
            <a:srgbClr val="B9C2C9"/>
          </a:solidFill>
          <a:ln w="19050">
            <a:solidFill>
              <a:srgbClr val="C97A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97312" y="685800"/>
            <a:ext cx="1005840" cy="1005840"/>
          </a:xfrm>
          <a:prstGeom prst="ellipse">
            <a:avLst/>
          </a:prstGeom>
          <a:ln w="12700">
            <a:solidFill>
              <a:srgbClr val="3A3F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9064" y="987552"/>
            <a:ext cx="402336" cy="402336"/>
          </a:xfrm>
          <a:prstGeom prst="ellipse">
            <a:avLst/>
          </a:prstGeom>
          <a:solidFill>
            <a:srgbClr val="C97A3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10058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24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Metal surfaces vary widely in color, texture, and finish across manufacturing batches.</a:t>
            </a:r>
            <a:endParaRPr lang="en-US" sz="24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24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inspection of surface color/quality is slow, subjective, and error-prone.</a:t>
            </a:r>
            <a:endParaRPr lang="en-US" sz="24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24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MetalVision combines U-Net (deep learning segmentation) with K-Means clustering (unsupervised color grouping) to automate this process.</a:t>
            </a:r>
            <a:endParaRPr lang="en-US" sz="24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24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Goal: precise, consistent, and scalable color-based segmentation of metal surfaces for quality control.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MetalVision  |  Review 1  |  25/07/2026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77272" y="365760"/>
            <a:ext cx="1645920" cy="1645920"/>
          </a:xfrm>
          <a:prstGeom prst="ellipse">
            <a:avLst/>
          </a:prstGeom>
          <a:solidFill>
            <a:srgbClr val="B9C2C9"/>
          </a:solidFill>
          <a:ln w="19050">
            <a:solidFill>
              <a:srgbClr val="C97A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97312" y="685800"/>
            <a:ext cx="1005840" cy="1005840"/>
          </a:xfrm>
          <a:prstGeom prst="ellipse">
            <a:avLst/>
          </a:prstGeom>
          <a:ln w="12700">
            <a:solidFill>
              <a:srgbClr val="3A3F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9064" y="987552"/>
            <a:ext cx="402336" cy="402336"/>
          </a:xfrm>
          <a:prstGeom prst="ellipse">
            <a:avLst/>
          </a:prstGeom>
          <a:solidFill>
            <a:srgbClr val="C97A3D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448056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3252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Approach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3252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Key Idea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3252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Limitation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3252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Traditional Thresholding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3252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Fixed color/intensity thresholds for segmentation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3252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Fails on varying lighting &amp; metal finishes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3252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Classical K-Means Clustering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3252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Unsupervised grouping of pixel colors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3252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spatial/semantic context, sensitive to noise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3252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CNN-based Semantic Segmentation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3252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Learns spatial features via deep convolutions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3252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Needs large labeled datasets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3252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U-Net Architecture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3252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Encoder-decoder with skip connections for precise masks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3252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 compute cost; color ambiguity remains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MetalVision  |  Review 1  |  25/07/2026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77272" y="365760"/>
            <a:ext cx="1645920" cy="1645920"/>
          </a:xfrm>
          <a:prstGeom prst="ellipse">
            <a:avLst/>
          </a:prstGeom>
          <a:solidFill>
            <a:srgbClr val="B9C2C9"/>
          </a:solidFill>
          <a:ln w="19050">
            <a:solidFill>
              <a:srgbClr val="C97A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97312" y="685800"/>
            <a:ext cx="1005840" cy="1005840"/>
          </a:xfrm>
          <a:prstGeom prst="ellipse">
            <a:avLst/>
          </a:prstGeom>
          <a:ln w="12700">
            <a:solidFill>
              <a:srgbClr val="3A3F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9064" y="987552"/>
            <a:ext cx="402336" cy="402336"/>
          </a:xfrm>
          <a:prstGeom prst="ellipse">
            <a:avLst/>
          </a:prstGeom>
          <a:solidFill>
            <a:srgbClr val="C97A3D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37360"/>
            <a:ext cx="10058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2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9326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metal surface inspection methods struggle to consistently and accurately segment regions by color under varying lighting, surface finish, and material composition. There is a need for an intelligent framework that combines deep learning-based segmentation with unsupervised color clustering to deliver accurate, consistent, and automated metal surface color segmentation for industrial quality inspection.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MetalVision  |  Review 1  |  25/07/2026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77272" y="365760"/>
            <a:ext cx="1645920" cy="1645920"/>
          </a:xfrm>
          <a:prstGeom prst="ellipse">
            <a:avLst/>
          </a:prstGeom>
          <a:solidFill>
            <a:srgbClr val="B9C2C9"/>
          </a:solidFill>
          <a:ln w="19050">
            <a:solidFill>
              <a:srgbClr val="C97A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97312" y="685800"/>
            <a:ext cx="1005840" cy="1005840"/>
          </a:xfrm>
          <a:prstGeom prst="ellipse">
            <a:avLst/>
          </a:prstGeom>
          <a:ln w="12700">
            <a:solidFill>
              <a:srgbClr val="3A3F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9064" y="987552"/>
            <a:ext cx="402336" cy="402336"/>
          </a:xfrm>
          <a:prstGeom prst="ellipse">
            <a:avLst/>
          </a:prstGeom>
          <a:solidFill>
            <a:srgbClr val="C97A3D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3736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9C2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938528"/>
            <a:ext cx="502920" cy="502920"/>
          </a:xfrm>
          <a:prstGeom prst="ellipse">
            <a:avLst/>
          </a:prstGeom>
          <a:solidFill>
            <a:srgbClr val="C97A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38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173736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a U-Net based deep learning model for pixel-level segmentation of metal surfaces.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9C2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035808"/>
            <a:ext cx="502920" cy="502920"/>
          </a:xfrm>
          <a:prstGeom prst="ellipse">
            <a:avLst/>
          </a:prstGeom>
          <a:solidFill>
            <a:srgbClr val="C97A3D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283464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K-Means clustering to group segmented regions by dominant color characteristics.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9C2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133088"/>
            <a:ext cx="502920" cy="502920"/>
          </a:xfrm>
          <a:prstGeom prst="ellipse">
            <a:avLst/>
          </a:prstGeom>
          <a:solidFill>
            <a:srgbClr val="C97A3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33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393192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an integrated pipeline that combines segmentation accuracy with color-based grouping.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40080" y="502920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9C2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5230368"/>
            <a:ext cx="502920" cy="502920"/>
          </a:xfrm>
          <a:prstGeom prst="ellipse">
            <a:avLst/>
          </a:prstGeom>
          <a:solidFill>
            <a:srgbClr val="C97A3D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230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00200" y="502920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 the framework on real metal surface images for accuracy, consistency, and speed.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MetalVision  |  Review 1  |  25/07/2026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77272" y="365760"/>
            <a:ext cx="1645920" cy="1645920"/>
          </a:xfrm>
          <a:prstGeom prst="ellipse">
            <a:avLst/>
          </a:prstGeom>
          <a:solidFill>
            <a:srgbClr val="B9C2C9"/>
          </a:solidFill>
          <a:ln w="19050">
            <a:solidFill>
              <a:srgbClr val="C97A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97312" y="685800"/>
            <a:ext cx="1005840" cy="1005840"/>
          </a:xfrm>
          <a:prstGeom prst="ellipse">
            <a:avLst/>
          </a:prstGeom>
          <a:ln w="12700">
            <a:solidFill>
              <a:srgbClr val="3A3F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9064" y="987552"/>
            <a:ext cx="402336" cy="402336"/>
          </a:xfrm>
          <a:prstGeom prst="ellipse">
            <a:avLst/>
          </a:prstGeom>
          <a:solidFill>
            <a:srgbClr val="C97A3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Overall Design of Project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0412" y="283464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3A3F44"/>
          </a:solidFill>
          <a:ln/>
        </p:spPr>
      </p:sp>
      <p:sp>
        <p:nvSpPr>
          <p:cNvPr id="8" name="Text 6"/>
          <p:cNvSpPr/>
          <p:nvPr/>
        </p:nvSpPr>
        <p:spPr>
          <a:xfrm>
            <a:off x="1010412" y="2834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Metal Image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39212" y="283464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95244" y="283464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C97A3D"/>
          </a:solidFill>
          <a:ln/>
        </p:spPr>
      </p:sp>
      <p:sp>
        <p:nvSpPr>
          <p:cNvPr id="11" name="Text 9"/>
          <p:cNvSpPr/>
          <p:nvPr/>
        </p:nvSpPr>
        <p:spPr>
          <a:xfrm>
            <a:off x="3095244" y="2834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&amp; Normalization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24044" y="283464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180076" y="283464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3A3F44"/>
          </a:solidFill>
          <a:ln/>
        </p:spPr>
      </p:sp>
      <p:sp>
        <p:nvSpPr>
          <p:cNvPr id="14" name="Text 12"/>
          <p:cNvSpPr/>
          <p:nvPr/>
        </p:nvSpPr>
        <p:spPr>
          <a:xfrm>
            <a:off x="5180076" y="2834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U-Net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Segmentation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08876" y="283464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264908" y="283464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C97A3D"/>
          </a:solidFill>
          <a:ln/>
        </p:spPr>
      </p:sp>
      <p:sp>
        <p:nvSpPr>
          <p:cNvPr id="17" name="Text 15"/>
          <p:cNvSpPr/>
          <p:nvPr/>
        </p:nvSpPr>
        <p:spPr>
          <a:xfrm>
            <a:off x="7264908" y="2834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K-Means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Color Clustering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93708" y="283464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349740" y="283464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3A3F44"/>
          </a:solidFill>
          <a:ln/>
        </p:spPr>
      </p:sp>
      <p:sp>
        <p:nvSpPr>
          <p:cNvPr id="20" name="Text 18"/>
          <p:cNvSpPr/>
          <p:nvPr/>
        </p:nvSpPr>
        <p:spPr>
          <a:xfrm>
            <a:off x="9349740" y="2834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Segmented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4663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input metal surface image is preprocessed, passed through a U-Net model for pixel-wise segmentation, then K-Means clustering groups segmented pixels by color to produce the final labeled output.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MetalVision  |  Review 1  |  25/07/2026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Modules Introduction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77272" y="365760"/>
            <a:ext cx="1645920" cy="1645920"/>
          </a:xfrm>
          <a:prstGeom prst="ellipse">
            <a:avLst/>
          </a:prstGeom>
          <a:solidFill>
            <a:srgbClr val="B9C2C9"/>
          </a:solidFill>
          <a:ln w="19050">
            <a:solidFill>
              <a:srgbClr val="C97A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97312" y="685800"/>
            <a:ext cx="1005840" cy="1005840"/>
          </a:xfrm>
          <a:prstGeom prst="ellipse">
            <a:avLst/>
          </a:prstGeom>
          <a:ln w="12700">
            <a:solidFill>
              <a:srgbClr val="3A3F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9064" y="987552"/>
            <a:ext cx="402336" cy="402336"/>
          </a:xfrm>
          <a:prstGeom prst="ellipse">
            <a:avLst/>
          </a:prstGeom>
          <a:solidFill>
            <a:srgbClr val="C97A3D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00200"/>
            <a:ext cx="5120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2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6479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A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Image Acquisition &amp; Preprocessing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Capture/import metal surface images; resize, denoise, and normalize for model input.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0" y="1600200"/>
            <a:ext cx="5120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2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76479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A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U-Net Segmentation Module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63640" y="228600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Encoder-decoder CNN generates pixel-level masks identifying distinct surface regions.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120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2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05079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A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K-Means Clustering Module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457200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Groups segmented pixels into color clusters to identify dominant surface color zones.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35040" y="3886200"/>
            <a:ext cx="5120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2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405079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A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Visualization &amp; Evaluation Module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63640" y="457200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Overlays segmented/clustered results on the original image and reports accuracy metrics.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MetalVision  |  Review 1  |  25/07/2026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2026-07-25T04:39:27Z</dcterms:created>
  <dcterms:modified xsi:type="dcterms:W3CDTF">2026-07-25T04:39:27Z</dcterms:modified>
</cp:coreProperties>
</file>